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am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371600" cy="810491"/>
          </a:xfrm>
          <a:prstGeom prst="rect">
            <a:avLst/>
          </a:prstGeom>
        </p:spPr>
      </p:pic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137160"/>
            <a:ext cx="1645920" cy="7481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0" y="320040"/>
            <a:ext cx="7619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Georgia"/>
              </a:defRPr>
            </a:pPr>
            <a:r>
              <a:t>TECHNICAL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72B9"/>
          </a:solidFill>
          <a:ln>
            <a:solidFill>
              <a:srgbClr val="1072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6480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648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20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303520" cy="5029200"/>
          </a:xfrm>
          <a:prstGeom prst="roundRect">
            <a:avLst/>
          </a:prstGeom>
          <a:solidFill>
            <a:srgbClr val="F3F8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_t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1325880"/>
            <a:ext cx="457200" cy="342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48840" y="12801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Georgia"/>
              </a:defRPr>
            </a:pPr>
            <a:r>
              <a:t>Technologies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828800"/>
            <a:ext cx="2377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09728"/>
          <a:lstStyle/>
          <a:p>
            <a:pPr algn="ctr">
              <a:defRPr sz="1300" b="1">
                <a:solidFill>
                  <a:srgbClr val="0284C7"/>
                </a:solidFill>
                <a:latin typeface="Arial"/>
              </a:defRPr>
            </a:pPr>
            <a:r>
              <a:t>AI &amp; Vision</a:t>
            </a:r>
          </a:p>
          <a:p>
            <a:pPr>
              <a:defRPr sz="950">
                <a:solidFill>
                  <a:srgbClr val="374151"/>
                </a:solidFill>
                <a:latin typeface="Arial"/>
              </a:defRPr>
            </a:pPr>
            <a:r>
              <a:t>• Fine-Tuned YOLOv8n (5.93MB)</a:t>
            </a:r>
          </a:p>
          <a:p>
            <a:pPr>
              <a:defRPr sz="950">
                <a:solidFill>
                  <a:srgbClr val="374151"/>
                </a:solidFill>
                <a:latin typeface="Arial"/>
              </a:defRPr>
            </a:pPr>
            <a:r>
              <a:t>• Dynamic Safety Corridors (ROI)</a:t>
            </a:r>
          </a:p>
          <a:p>
            <a:pPr>
              <a:defRPr sz="950">
                <a:solidFill>
                  <a:srgbClr val="374151"/>
                </a:solidFill>
                <a:latin typeface="Arial"/>
              </a:defRPr>
            </a:pPr>
            <a:r>
              <a:t>• ALPR &amp; Kinematics Swerve Tracker</a:t>
            </a:r>
          </a:p>
          <a:p>
            <a:pPr>
              <a:defRPr sz="950">
                <a:solidFill>
                  <a:srgbClr val="374151"/>
                </a:solidFill>
                <a:latin typeface="Arial"/>
              </a:defRPr>
            </a:pPr>
            <a:r>
              <a:t>• PyTorch &amp; ONNX (9.8ms MPS Latency)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828800"/>
            <a:ext cx="2377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09728"/>
          <a:lstStyle/>
          <a:p>
            <a:pPr algn="ctr">
              <a:defRPr sz="1300" b="1">
                <a:solidFill>
                  <a:srgbClr val="10956C"/>
                </a:solidFill>
                <a:latin typeface="Arial"/>
              </a:defRPr>
            </a:pPr>
            <a:r>
              <a:t>Backend &amp; APIs</a:t>
            </a:r>
          </a:p>
          <a:p>
            <a:pPr>
              <a:defRPr sz="950">
                <a:solidFill>
                  <a:srgbClr val="374151"/>
                </a:solidFill>
                <a:latin typeface="Arial"/>
              </a:defRPr>
            </a:pPr>
            <a:r>
              <a:t>• Python FastAPI Ingest Engine</a:t>
            </a:r>
          </a:p>
          <a:p>
            <a:pPr>
              <a:defRPr sz="950">
                <a:solidFill>
                  <a:srgbClr val="374151"/>
                </a:solidFill>
                <a:latin typeface="Arial"/>
              </a:defRPr>
            </a:pPr>
            <a:r>
              <a:t>• RESTful &amp; WebSocket Telemetry</a:t>
            </a:r>
          </a:p>
          <a:p>
            <a:pPr>
              <a:defRPr sz="950">
                <a:solidFill>
                  <a:srgbClr val="374151"/>
                </a:solidFill>
                <a:latin typeface="Arial"/>
              </a:defRPr>
            </a:pPr>
            <a:r>
              <a:t>• 5-Factor Civic Risk Engine (0-100)</a:t>
            </a:r>
          </a:p>
          <a:p>
            <a:pPr>
              <a:defRPr sz="950">
                <a:solidFill>
                  <a:srgbClr val="374151"/>
                </a:solidFill>
                <a:latin typeface="Arial"/>
              </a:defRPr>
            </a:pPr>
            <a:r>
              <a:t>• Asynchronous Multi-Stream Broker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31920"/>
            <a:ext cx="2377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09728"/>
          <a:lstStyle/>
          <a:p>
            <a:pPr algn="ctr">
              <a:defRPr sz="1300" b="1">
                <a:solidFill>
                  <a:srgbClr val="0284C7"/>
                </a:solidFill>
                <a:latin typeface="Arial"/>
              </a:defRPr>
            </a:pPr>
            <a:r>
              <a:t>Frontend Web</a:t>
            </a:r>
          </a:p>
          <a:p>
            <a:pPr>
              <a:defRPr sz="950">
                <a:solidFill>
                  <a:srgbClr val="374151"/>
                </a:solidFill>
                <a:latin typeface="Arial"/>
              </a:defRPr>
            </a:pPr>
            <a:r>
              <a:t>• Next.js 14 App Router &amp; React 19</a:t>
            </a:r>
          </a:p>
          <a:p>
            <a:pPr>
              <a:defRPr sz="950">
                <a:solidFill>
                  <a:srgbClr val="374151"/>
                </a:solidFill>
                <a:latin typeface="Arial"/>
              </a:defRPr>
            </a:pPr>
            <a:r>
              <a:t>• 4-Camera Live Edge Switcher</a:t>
            </a:r>
          </a:p>
          <a:p>
            <a:pPr>
              <a:defRPr sz="950">
                <a:solidFill>
                  <a:srgbClr val="374151"/>
                </a:solidFill>
                <a:latin typeface="Arial"/>
              </a:defRPr>
            </a:pPr>
            <a:r>
              <a:t>• State Machine Verification Pipeline</a:t>
            </a:r>
          </a:p>
          <a:p>
            <a:pPr>
              <a:defRPr sz="950">
                <a:solidFill>
                  <a:srgbClr val="374151"/>
                </a:solidFill>
                <a:latin typeface="Arial"/>
              </a:defRPr>
            </a:pPr>
            <a:r>
              <a:t>• Tailwind CSS &amp; Responsive Telemetry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3931920"/>
            <a:ext cx="2377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09728"/>
          <a:lstStyle/>
          <a:p>
            <a:pPr algn="ctr">
              <a:defRPr sz="1300" b="1">
                <a:solidFill>
                  <a:srgbClr val="D97706"/>
                </a:solidFill>
                <a:latin typeface="Arial"/>
              </a:defRPr>
            </a:pPr>
            <a:r>
              <a:t>Geospatial</a:t>
            </a:r>
          </a:p>
          <a:p>
            <a:pPr>
              <a:defRPr sz="950">
                <a:solidFill>
                  <a:srgbClr val="374151"/>
                </a:solidFill>
                <a:latin typeface="Arial"/>
              </a:defRPr>
            </a:pPr>
            <a:r>
              <a:t>• Leaflet GIS &amp; Turf.js Spatial Engine</a:t>
            </a:r>
          </a:p>
          <a:p>
            <a:pPr>
              <a:defRPr sz="950">
                <a:solidFill>
                  <a:srgbClr val="374151"/>
                </a:solidFill>
                <a:latin typeface="Arial"/>
              </a:defRPr>
            </a:pPr>
            <a:r>
              <a:t>• Bayesian Multi-Bus Consensus (15m/30m)</a:t>
            </a:r>
          </a:p>
          <a:p>
            <a:pPr>
              <a:defRPr sz="950">
                <a:solidFill>
                  <a:srgbClr val="374151"/>
                </a:solidFill>
                <a:latin typeface="Arial"/>
              </a:defRPr>
            </a:pPr>
            <a:r>
              <a:t>• Route 70H Vector Polyline Snapping</a:t>
            </a:r>
          </a:p>
          <a:p>
            <a:pPr>
              <a:defRPr sz="950">
                <a:solidFill>
                  <a:srgbClr val="374151"/>
                </a:solidFill>
                <a:latin typeface="Arial"/>
              </a:defRPr>
            </a:pPr>
            <a:r>
              <a:t>• 40m Missing Sign Spatial Filter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188720"/>
            <a:ext cx="5669280" cy="5029200"/>
          </a:xfrm>
          <a:prstGeom prst="roundRect">
            <a:avLst/>
          </a:prstGeom>
          <a:solidFill>
            <a:srgbClr val="F1FDF5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on_methodolog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1325880"/>
            <a:ext cx="411480" cy="4114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92440" y="12801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Georgia"/>
              </a:defRPr>
            </a:pPr>
            <a:r>
              <a:t>Methodology 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828800"/>
            <a:ext cx="53035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/>
            <a:r>
              <a:rPr b="1" sz="1100">
                <a:solidFill>
                  <a:srgbClr val="166534"/>
                </a:solidFill>
                <a:latin typeface="Arial"/>
              </a:rPr>
              <a:t>01  </a:t>
            </a:r>
            <a:r>
              <a:rPr b="1" sz="1000">
                <a:solidFill>
                  <a:srgbClr val="18181B"/>
                </a:solidFill>
                <a:latin typeface="Arial"/>
              </a:rPr>
              <a:t>Bus Camera Feed — </a:t>
            </a:r>
            <a:r>
              <a:rPr sz="900">
                <a:solidFill>
                  <a:srgbClr val="374151"/>
                </a:solidFill>
                <a:latin typeface="Arial"/>
              </a:rPr>
              <a:t>4 onboard cameras (Front 1080p, Rear, Left Kerb, In-Cabin) sample 7-8 FPS.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441448"/>
            <a:ext cx="53035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/>
            <a:r>
              <a:rPr b="1" sz="1100">
                <a:solidFill>
                  <a:srgbClr val="166534"/>
                </a:solidFill>
                <a:latin typeface="Arial"/>
              </a:rPr>
              <a:t>02  </a:t>
            </a:r>
            <a:r>
              <a:rPr b="1" sz="1000">
                <a:solidFill>
                  <a:srgbClr val="18181B"/>
                </a:solidFill>
                <a:latin typeface="Arial"/>
              </a:rPr>
              <a:t>AI Hazard Detection (YOLOv8) — </a:t>
            </a:r>
            <a:r>
              <a:rPr sz="900">
                <a:solidFill>
                  <a:srgbClr val="374151"/>
                </a:solidFill>
                <a:latin typeface="Arial"/>
              </a:rPr>
              <a:t>Real-time inference on 6 road hazard classes + LOS A-F traffic density.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054096"/>
            <a:ext cx="53035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/>
            <a:r>
              <a:rPr b="1" sz="1100">
                <a:solidFill>
                  <a:srgbClr val="166534"/>
                </a:solidFill>
                <a:latin typeface="Arial"/>
              </a:rPr>
              <a:t>03  </a:t>
            </a:r>
            <a:r>
              <a:rPr b="1" sz="1000">
                <a:solidFill>
                  <a:srgbClr val="18181B"/>
                </a:solidFill>
                <a:latin typeface="Arial"/>
              </a:rPr>
              <a:t>GPS Location Tagging — </a:t>
            </a:r>
            <a:r>
              <a:rPr sz="900">
                <a:solidFill>
                  <a:srgbClr val="374151"/>
                </a:solidFill>
                <a:latin typeface="Arial"/>
              </a:rPr>
              <a:t>Browser GNSS &amp; Route 70H vector snapping tag micro-coordinates (±3-8m).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666744"/>
            <a:ext cx="53035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/>
            <a:r>
              <a:rPr b="1" sz="1100">
                <a:solidFill>
                  <a:srgbClr val="166534"/>
                </a:solidFill>
                <a:latin typeface="Arial"/>
              </a:rPr>
              <a:t>04  </a:t>
            </a:r>
            <a:r>
              <a:rPr b="1" sz="1000">
                <a:solidFill>
                  <a:srgbClr val="18181B"/>
                </a:solidFill>
                <a:latin typeface="Arial"/>
              </a:rPr>
              <a:t>Multi-Bus Verification (Filtering) — </a:t>
            </a:r>
            <a:r>
              <a:rPr sz="900">
                <a:solidFill>
                  <a:srgbClr val="374151"/>
                </a:solidFill>
                <a:latin typeface="Arial"/>
              </a:rPr>
              <a:t>Bayesian spatial consensus (15m, 30m window) fuses confidence to ≥98.4%.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279392"/>
            <a:ext cx="53035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/>
            <a:r>
              <a:rPr b="1" sz="1100">
                <a:solidFill>
                  <a:srgbClr val="166534"/>
                </a:solidFill>
                <a:latin typeface="Arial"/>
              </a:rPr>
              <a:t>05  </a:t>
            </a:r>
            <a:r>
              <a:rPr b="1" sz="1000">
                <a:solidFill>
                  <a:srgbClr val="18181B"/>
                </a:solidFill>
                <a:latin typeface="Arial"/>
              </a:rPr>
              <a:t>GIS Live Mapping — </a:t>
            </a:r>
            <a:r>
              <a:rPr sz="900">
                <a:solidFill>
                  <a:srgbClr val="374151"/>
                </a:solidFill>
                <a:latin typeface="Arial"/>
              </a:rPr>
              <a:t>Turf.js renders real-time road condition heatmap and corridor health index.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892040"/>
            <a:ext cx="53035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/>
            <a:r>
              <a:rPr b="1" sz="1100">
                <a:solidFill>
                  <a:srgbClr val="166534"/>
                </a:solidFill>
                <a:latin typeface="Arial"/>
              </a:rPr>
              <a:t>06  </a:t>
            </a:r>
            <a:r>
              <a:rPr b="1" sz="1000">
                <a:solidFill>
                  <a:srgbClr val="18181B"/>
                </a:solidFill>
                <a:latin typeface="Arial"/>
              </a:rPr>
              <a:t>Automated Work Order — </a:t>
            </a:r>
            <a:r>
              <a:rPr sz="900">
                <a:solidFill>
                  <a:srgbClr val="374151"/>
                </a:solidFill>
                <a:latin typeface="Arial"/>
              </a:rPr>
              <a:t>Direct API integration generates 9-stage GCC municipal repair tickets.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5504688"/>
            <a:ext cx="53035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/>
            <a:r>
              <a:rPr b="1" sz="1100">
                <a:solidFill>
                  <a:srgbClr val="166534"/>
                </a:solidFill>
                <a:latin typeface="Arial"/>
              </a:rPr>
              <a:t>07  </a:t>
            </a:r>
            <a:r>
              <a:rPr b="1" sz="1000">
                <a:solidFill>
                  <a:srgbClr val="18181B"/>
                </a:solidFill>
                <a:latin typeface="Arial"/>
              </a:rPr>
              <a:t>Resolution &amp; Closed-loop Action — </a:t>
            </a:r>
            <a:r>
              <a:rPr sz="900">
                <a:solidFill>
                  <a:srgbClr val="374151"/>
                </a:solidFill>
                <a:latin typeface="Arial"/>
              </a:rPr>
              <a:t>Automated re-inspection by subsequent transit runs audits contractor repair.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am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371600" cy="810491"/>
          </a:xfrm>
          <a:prstGeom prst="rect">
            <a:avLst/>
          </a:prstGeom>
        </p:spPr>
      </p:pic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137160"/>
            <a:ext cx="1645920" cy="7481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0" y="320040"/>
            <a:ext cx="7619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Georgia"/>
              </a:defRPr>
            </a:pPr>
            <a:r>
              <a:t>FEASIBILITY AND VIABILITY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72B9"/>
          </a:solidFill>
          <a:ln>
            <a:solidFill>
              <a:srgbClr val="1072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6480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648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20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3474720" cy="5029200"/>
          </a:xfrm>
          <a:prstGeom prst="roundRect">
            <a:avLst/>
          </a:prstGeom>
          <a:solidFill>
            <a:srgbClr val="F1FDF5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_feasibi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371600"/>
            <a:ext cx="365760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88720" y="129844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6534"/>
                </a:solidFill>
                <a:latin typeface="Georgia"/>
              </a:defRPr>
            </a:pPr>
            <a:r>
              <a:t>Feasibility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166534"/>
                </a:solidFill>
                <a:latin typeface="Arial"/>
              </a:rPr>
              <a:t>•  Hardware-Agnostic Edge AI: </a:t>
            </a:r>
            <a:r>
              <a:rPr sz="950">
                <a:solidFill>
                  <a:srgbClr val="374151"/>
                </a:solidFill>
                <a:latin typeface="Arial"/>
              </a:rPr>
              <a:t>Operates on ultra-low-cost Jetson Orin Nano, Pi 5 AI Hat, or standard bus NVR units (&lt;15W). Live WebRTC turns any mobile phone into an edge node.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718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166534"/>
                </a:solidFill>
                <a:latin typeface="Arial"/>
              </a:rPr>
              <a:t>•  Edge Inference Efficiency: </a:t>
            </a:r>
            <a:r>
              <a:rPr sz="950">
                <a:solidFill>
                  <a:srgbClr val="374151"/>
                </a:solidFill>
                <a:latin typeface="Arial"/>
              </a:rPr>
              <a:t>Fine-tuned YOLOv8n achieves 9.8ms onboard latency (PyTorch MPS / TensorRT), enabling full 15-30 FPS processing at bus speeds up to 80 km/h with zero lag.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166534"/>
                </a:solidFill>
                <a:latin typeface="Arial"/>
              </a:rPr>
              <a:t>•  99.7% Bandwidth Saving: </a:t>
            </a:r>
            <a:r>
              <a:rPr sz="950">
                <a:solidFill>
                  <a:srgbClr val="374151"/>
                </a:solidFill>
                <a:latin typeface="Arial"/>
              </a:rPr>
              <a:t>Zero continuous video upload. Only tiny telemetry JSON packets (~2.4 KB with bounding box, GPS, confidence) are sent upon verified hazard detection.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7492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166534"/>
                </a:solidFill>
                <a:latin typeface="Arial"/>
              </a:rPr>
              <a:t>•  Scalable Municipal Integration: </a:t>
            </a:r>
            <a:r>
              <a:rPr sz="950">
                <a:solidFill>
                  <a:srgbClr val="374151"/>
                </a:solidFill>
                <a:latin typeface="Arial"/>
              </a:rPr>
              <a:t>RESTful webhooks directly sync confirmed road defects with GCC / BBMP work order systems for end-to-end automated remediation.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188720"/>
            <a:ext cx="3474720" cy="5029200"/>
          </a:xfrm>
          <a:prstGeom prst="roundRect">
            <a:avLst/>
          </a:prstGeom>
          <a:solidFill>
            <a:srgbClr val="FEFCED"/>
          </a:solidFill>
          <a:ln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on_challeng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1371600"/>
            <a:ext cx="365760" cy="365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74920" y="129844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16207"/>
                </a:solidFill>
                <a:latin typeface="Georgia"/>
              </a:defRPr>
            </a:pPr>
            <a:r>
              <a:t>Challenges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19202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A16207"/>
                </a:solidFill>
                <a:latin typeface="Arial"/>
              </a:rPr>
              <a:t>•  Extreme Lighting &amp; Weather: </a:t>
            </a:r>
            <a:r>
              <a:rPr sz="950">
                <a:solidFill>
                  <a:srgbClr val="374151"/>
                </a:solidFill>
                <a:latin typeface="Arial"/>
              </a:rPr>
              <a:t>Monsoon rain downpours, water glare, night driving, lens dust, and road vibration causing motion blur.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9718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A16207"/>
                </a:solidFill>
                <a:latin typeface="Arial"/>
              </a:rPr>
              <a:t>•  False-Positive Road Markings: </a:t>
            </a:r>
            <a:r>
              <a:rPr sz="950">
                <a:solidFill>
                  <a:srgbClr val="374151"/>
                </a:solidFill>
                <a:latin typeface="Arial"/>
              </a:rPr>
              <a:t>Manhole covers, asphalt patches, tree shadows, and construction barricades misclassified as potholes.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02336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A16207"/>
                </a:solidFill>
                <a:latin typeface="Arial"/>
              </a:rPr>
              <a:t>•  Urban GNSS Multipath Drift: </a:t>
            </a:r>
            <a:r>
              <a:rPr sz="950">
                <a:solidFill>
                  <a:srgbClr val="374151"/>
                </a:solidFill>
                <a:latin typeface="Arial"/>
              </a:rPr>
              <a:t>High-rise corridors and concrete flyovers causing GPS drift of 15-30m in dense city centers.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507492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A16207"/>
                </a:solidFill>
                <a:latin typeface="Arial"/>
              </a:rPr>
              <a:t>•  Public Data Privacy (DPDP): </a:t>
            </a:r>
            <a:r>
              <a:rPr sz="950">
                <a:solidFill>
                  <a:srgbClr val="374151"/>
                </a:solidFill>
                <a:latin typeface="Arial"/>
              </a:rPr>
              <a:t>Commuter facial recognition concerns and recording private vehicle license plates on public roadways.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188720"/>
            <a:ext cx="3474720" cy="5029200"/>
          </a:xfrm>
          <a:prstGeom prst="roundRect">
            <a:avLst/>
          </a:prstGeom>
          <a:solidFill>
            <a:srgbClr val="F3F8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strategi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1371600"/>
            <a:ext cx="365760" cy="4267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961120" y="129844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40AF"/>
                </a:solidFill>
                <a:latin typeface="Georgia"/>
              </a:defRPr>
            </a:pPr>
            <a:r>
              <a:t>Strategies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19202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1E40AF"/>
                </a:solidFill>
                <a:latin typeface="Arial"/>
              </a:rPr>
              <a:t>•  Multi-Exposure CLAHE &amp; Hysteresis: </a:t>
            </a:r>
            <a:r>
              <a:rPr sz="950">
                <a:solidFill>
                  <a:srgbClr val="374151"/>
                </a:solidFill>
                <a:latin typeface="Arial"/>
              </a:rPr>
              <a:t>Adaptive histogram normalization for night/rain + 3-frame hit confirmation and 5-frame clear window.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9718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1E40AF"/>
                </a:solidFill>
                <a:latin typeface="Arial"/>
              </a:rPr>
              <a:t>•  Bayesian Multi-Bus Consensus: </a:t>
            </a:r>
            <a:r>
              <a:rPr sz="950">
                <a:solidFill>
                  <a:srgbClr val="374151"/>
                </a:solidFill>
                <a:latin typeface="Arial"/>
              </a:rPr>
              <a:t>Spatial-temporal clustering (15m radius, 30m window) fuses independent bus observations, dropping false alarms to &lt;0.5%.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02336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1E40AF"/>
                </a:solidFill>
                <a:latin typeface="Arial"/>
              </a:rPr>
              <a:t>•  Map-Matching Route Polylines: </a:t>
            </a:r>
            <a:r>
              <a:rPr sz="950">
                <a:solidFill>
                  <a:srgbClr val="374151"/>
                </a:solidFill>
                <a:latin typeface="Arial"/>
              </a:rPr>
              <a:t>Snaps raw GNSS fixes to validated transit route vector coordinates, eliminating multipath drift.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07492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1E40AF"/>
                </a:solidFill>
                <a:latin typeface="Arial"/>
              </a:rPr>
              <a:t>•  Zero-Storage Privacy Pipeline: </a:t>
            </a:r>
            <a:r>
              <a:rPr sz="950">
                <a:solidFill>
                  <a:srgbClr val="374151"/>
                </a:solidFill>
                <a:latin typeface="Arial"/>
              </a:rPr>
              <a:t>Frames processed entirely in volatile RAM; local OpenCV Gaussian blurring of faces &amp; plates complies with DPDP Act 2023.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am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371600" cy="810491"/>
          </a:xfrm>
          <a:prstGeom prst="rect">
            <a:avLst/>
          </a:prstGeom>
        </p:spPr>
      </p:pic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137160"/>
            <a:ext cx="1645920" cy="7481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0" y="320040"/>
            <a:ext cx="7619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Georgia"/>
              </a:defRPr>
            </a:pPr>
            <a:r>
              <a:t>IMPACT AND 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72B9"/>
          </a:solidFill>
          <a:ln>
            <a:solidFill>
              <a:srgbClr val="1072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6480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648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200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3474720" cy="5029200"/>
          </a:xfrm>
          <a:prstGeom prst="roundRect">
            <a:avLst/>
          </a:prstGeom>
          <a:solidFill>
            <a:srgbClr val="F3F8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_foc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371600"/>
            <a:ext cx="411480" cy="33666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34440" y="129844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40AF"/>
                </a:solidFill>
                <a:latin typeface="Georgia"/>
              </a:defRPr>
            </a:pPr>
            <a:r>
              <a:t>Focus &amp;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E40AF"/>
                </a:solidFill>
                <a:latin typeface="Arial"/>
              </a:defRPr>
            </a:pPr>
            <a:r>
              <a:t>Target Audience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3108960" cy="8686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950">
                <a:solidFill>
                  <a:srgbClr val="374151"/>
                </a:solidFill>
                <a:latin typeface="Arial"/>
              </a:defRPr>
            </a:pPr>
            <a:r>
              <a:t>• Municipal Corporations (GCC, BBMP, BMC): Automated infrastructure audit &amp; repair dispatch.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63240"/>
            <a:ext cx="3108960" cy="6858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950">
                <a:solidFill>
                  <a:srgbClr val="374151"/>
                </a:solidFill>
                <a:latin typeface="Arial"/>
              </a:defRPr>
            </a:pPr>
            <a:r>
              <a:t>• Public Transit Fleets (MTC, BMTC, DTC): Real-time route safety &amp; fleet headway optimization.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3108960" cy="8686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950">
                <a:solidFill>
                  <a:srgbClr val="374151"/>
                </a:solidFill>
                <a:latin typeface="Arial"/>
              </a:defRPr>
            </a:pPr>
            <a:r>
              <a:t>• Citizens &amp; Commuters: Zero-delay hazard alerts &amp; safer roads.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091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E40AF"/>
                </a:solidFill>
                <a:latin typeface="Arial"/>
              </a:defRPr>
            </a:pPr>
            <a:r>
              <a:t>Scalability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29200"/>
            <a:ext cx="3108960" cy="8686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950">
                <a:solidFill>
                  <a:srgbClr val="374151"/>
                </a:solidFill>
                <a:latin typeface="Arial"/>
              </a:defRPr>
            </a:pPr>
            <a:r>
              <a:t>• Zero Dedicated Survey Fleet: A 3,500 bus transit fleet covers 92% of all arterial roads at least 3x daily.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52160"/>
            <a:ext cx="3108960" cy="6858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950">
                <a:solidFill>
                  <a:srgbClr val="374151"/>
                </a:solidFill>
                <a:latin typeface="Arial"/>
              </a:defRPr>
            </a:pPr>
            <a:r>
              <a:t>• Multi-Tenant Cloud Architecture: Horizontal autoscaling handles 10,000+ simultaneous bus telemetry streams across multiple Indian metropolitan cities.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188720"/>
            <a:ext cx="3474720" cy="5029200"/>
          </a:xfrm>
          <a:prstGeom prst="roundRect">
            <a:avLst/>
          </a:prstGeom>
          <a:solidFill>
            <a:srgbClr val="F1FDF5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_vit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1371600"/>
            <a:ext cx="411480" cy="3703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120640" y="129844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6534"/>
                </a:solidFill>
                <a:latin typeface="Georgia"/>
              </a:defRPr>
            </a:pPr>
            <a:r>
              <a:t>Vital Benefits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19202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66534"/>
                </a:solidFill>
                <a:latin typeface="Arial"/>
              </a:defRPr>
            </a:pPr>
            <a:r>
              <a:t>Social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240280"/>
            <a:ext cx="3108960" cy="77724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950">
                <a:solidFill>
                  <a:srgbClr val="374151"/>
                </a:solidFill>
                <a:latin typeface="Arial"/>
              </a:defRPr>
            </a:pPr>
            <a:r>
              <a:t>• Direct Accident Reduction: Proactively flags potholes &amp; carriage-way hazards before fatal skids occur.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017520"/>
            <a:ext cx="3108960" cy="6400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950">
                <a:solidFill>
                  <a:srgbClr val="374151"/>
                </a:solidFill>
                <a:latin typeface="Arial"/>
              </a:defRPr>
            </a:pPr>
            <a:r>
              <a:t>• 350m V2X Caution Alerts: Instant forward safety broadcast to ambulances and approaching buses.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657600"/>
            <a:ext cx="3108960" cy="6400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950">
                <a:solidFill>
                  <a:srgbClr val="374151"/>
                </a:solidFill>
                <a:latin typeface="Arial"/>
              </a:defRPr>
            </a:pPr>
            <a:r>
              <a:t>• Traffic Law Corroboration: Auto-detects reckless swerving (&gt;0.45/s) and overspeeding with ALPR OCR.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4348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66534"/>
                </a:solidFill>
                <a:latin typeface="Arial"/>
              </a:defRPr>
            </a:pPr>
            <a:r>
              <a:t>Economic 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754880"/>
            <a:ext cx="3108960" cy="77724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950">
                <a:solidFill>
                  <a:srgbClr val="374151"/>
                </a:solidFill>
                <a:latin typeface="Arial"/>
              </a:defRPr>
            </a:pPr>
            <a:r>
              <a:t>• 85% Inspection Cost Cut: Eliminates expensive manual road surveys and specialized LiDAR survey vans.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5532120"/>
            <a:ext cx="3108960" cy="6400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950">
                <a:solidFill>
                  <a:srgbClr val="374151"/>
                </a:solidFill>
                <a:latin typeface="Arial"/>
              </a:defRPr>
            </a:pPr>
            <a:r>
              <a:t>• 5x Maintenance Savings: Early detection of asphalt distress prevents catastrophic monsoon road erosion.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1188720"/>
            <a:ext cx="3474720" cy="5029200"/>
          </a:xfrm>
          <a:prstGeom prst="roundRect">
            <a:avLst/>
          </a:prstGeom>
          <a:solidFill>
            <a:srgbClr val="FEFCED"/>
          </a:solidFill>
          <a:ln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_go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1371600"/>
            <a:ext cx="411480" cy="37033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006840" y="129844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A16207"/>
                </a:solidFill>
                <a:latin typeface="Georgia"/>
              </a:defRPr>
            </a:pPr>
            <a:r>
              <a:t>Governance &amp; Eco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19202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A16207"/>
                </a:solidFill>
                <a:latin typeface="Arial"/>
              </a:defRPr>
            </a:pPr>
            <a:r>
              <a:t>Environmental Impact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240280"/>
            <a:ext cx="3108960" cy="77724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950">
                <a:solidFill>
                  <a:srgbClr val="374151"/>
                </a:solidFill>
                <a:latin typeface="Arial"/>
              </a:defRPr>
            </a:pPr>
            <a:r>
              <a:t>• Zero Extra Carbon Footprint: Uses in-service transit buses; zero extra vehicles or fuel deployed.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017520"/>
            <a:ext cx="3108960" cy="6400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950">
                <a:solidFill>
                  <a:srgbClr val="374151"/>
                </a:solidFill>
                <a:latin typeface="Arial"/>
              </a:defRPr>
            </a:pPr>
            <a:r>
              <a:t>• Fleet Emission Optimization: LOS A-F congestion metrics and headway balancing smooth stop-and-go idling.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657600"/>
            <a:ext cx="3108960" cy="6400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950">
                <a:solidFill>
                  <a:srgbClr val="374151"/>
                </a:solidFill>
                <a:latin typeface="Arial"/>
              </a:defRPr>
            </a:pPr>
            <a:r>
              <a:t>• Water Stagnation Control: Fast waterlogging detection curbs pavement failure and vector breeding.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4348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A16207"/>
                </a:solidFill>
                <a:latin typeface="Arial"/>
              </a:defRPr>
            </a:pPr>
            <a:r>
              <a:t>Smart Governance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754880"/>
            <a:ext cx="3108960" cy="77724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950">
                <a:solidFill>
                  <a:srgbClr val="374151"/>
                </a:solidFill>
                <a:latin typeface="Arial"/>
              </a:defRPr>
            </a:pPr>
            <a:r>
              <a:t>• 9-Stage Closed-Loop SLA: Automated work order flow with GPS audit from subsequent bus runs.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5532120"/>
            <a:ext cx="3108960" cy="6400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950">
                <a:solidFill>
                  <a:srgbClr val="374151"/>
                </a:solidFill>
                <a:latin typeface="Arial"/>
              </a:defRPr>
            </a:pPr>
            <a:r>
              <a:t>• Objective Budget Allocation: Ward-level Road Health Index eliminates arbitrary road repair spending.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am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371600" cy="810491"/>
          </a:xfrm>
          <a:prstGeom prst="rect">
            <a:avLst/>
          </a:prstGeom>
        </p:spPr>
      </p:pic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137160"/>
            <a:ext cx="1645920" cy="7481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0" y="320040"/>
            <a:ext cx="7619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Georgia"/>
              </a:defRPr>
            </a:pPr>
            <a:r>
              <a:t>RESEARCH AND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072B9"/>
          </a:solidFill>
          <a:ln>
            <a:solidFill>
              <a:srgbClr val="1072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6480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648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200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303520" cy="1508760"/>
          </a:xfrm>
          <a:prstGeom prst="roundRect">
            <a:avLst/>
          </a:prstGeom>
          <a:solidFill>
            <a:srgbClr val="F3F8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1300">
                <a:solidFill>
                  <a:srgbClr val="1E3A8A"/>
                </a:solidFill>
                <a:latin typeface="Arial"/>
              </a:defRPr>
            </a:pPr>
            <a:r>
              <a:t>1. RDD2022 — Road Damage Detection</a:t>
            </a:r>
          </a:p>
          <a:p>
            <a:pPr>
              <a:defRPr sz="950">
                <a:solidFill>
                  <a:srgbClr val="374151"/>
                </a:solidFill>
              </a:defRPr>
            </a:pPr>
            <a:r>
              <a:t>Benchmark reference for road distress classification. Contains 47,420 road images from 6 countries covering potholes, longitudinal cracks, and alligator cracks. Fine-tuned into our 5.93MB edge YOLOv8n.</a:t>
            </a:r>
          </a:p>
          <a:p>
            <a:pPr>
              <a:defRPr sz="900" b="1">
                <a:solidFill>
                  <a:srgbClr val="0284C7"/>
                </a:solidFill>
              </a:defRPr>
            </a:pPr>
            <a:r>
              <a:t>Links: Research Paper (IEEE T-ITS 2022) | Dataset (GitHub: sekilab/RoadDamageDetector)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34640"/>
            <a:ext cx="5303520" cy="1508760"/>
          </a:xfrm>
          <a:prstGeom prst="roundRect">
            <a:avLst/>
          </a:prstGeom>
          <a:solidFill>
            <a:srgbClr val="F3F8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1300">
                <a:solidFill>
                  <a:srgbClr val="1E3A8A"/>
                </a:solidFill>
                <a:latin typeface="Arial"/>
              </a:defRPr>
            </a:pPr>
            <a:r>
              <a:t>2. Cityscapes — Urban Scene Understanding</a:t>
            </a:r>
          </a:p>
          <a:p>
            <a:pPr>
              <a:defRPr sz="950">
                <a:solidFill>
                  <a:srgbClr val="374151"/>
                </a:solidFill>
              </a:defRPr>
            </a:pPr>
            <a:r>
              <a:t>High-quality pixel-level annotations of 50 cities. Used for road semantic segmentation, missing lane dividers, missing zebra crossings, pedestrian carriage-way hazard gating, and kerb boundaries.</a:t>
            </a:r>
          </a:p>
          <a:p>
            <a:pPr>
              <a:defRPr sz="900" b="1">
                <a:solidFill>
                  <a:srgbClr val="0284C7"/>
                </a:solidFill>
              </a:defRPr>
            </a:pPr>
            <a:r>
              <a:t>Links: Dataset &amp; Research Paper (CVPR Cordts et al.) | www.cityscapes-dataset.com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0560"/>
            <a:ext cx="5303520" cy="1691640"/>
          </a:xfrm>
          <a:prstGeom prst="roundRect">
            <a:avLst/>
          </a:prstGeom>
          <a:solidFill>
            <a:srgbClr val="F3F8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1300">
                <a:solidFill>
                  <a:srgbClr val="1E3A8A"/>
                </a:solidFill>
                <a:latin typeface="Arial"/>
              </a:defRPr>
            </a:pPr>
            <a:r>
              <a:t>3. TACO — Trash Annotations in Context</a:t>
            </a:r>
          </a:p>
          <a:p>
            <a:pPr>
              <a:defRPr sz="950">
                <a:solidFill>
                  <a:srgbClr val="374151"/>
                </a:solidFill>
              </a:defRPr>
            </a:pPr>
            <a:r>
              <a:t>Open, growing dataset of annotated municipal litter and roadside garbage dump images in diverse urban environments. Fine-tuned into our CAM-LEFT kerb monitoring pipeline to detect sidewalk garbage spills.</a:t>
            </a:r>
          </a:p>
          <a:p>
            <a:pPr>
              <a:defRPr sz="900" b="1">
                <a:solidFill>
                  <a:srgbClr val="0284C7"/>
                </a:solidFill>
              </a:defRPr>
            </a:pPr>
            <a:r>
              <a:t>Links: Research Paper (Proença &amp; Simões 2020) | Dataset (tacodataset.org)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486400" cy="1143000"/>
          </a:xfrm>
          <a:prstGeom prst="roundRect">
            <a:avLst/>
          </a:prstGeom>
          <a:solidFill>
            <a:srgbClr val="F1FDF5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b="1" sz="1200">
                <a:solidFill>
                  <a:srgbClr val="166534"/>
                </a:solidFill>
                <a:latin typeface="Arial"/>
              </a:defRPr>
            </a:pPr>
            <a:r>
              <a:t>4. YOLOv8 — Real-Time Edge Object Detection</a:t>
            </a:r>
          </a:p>
          <a:p>
            <a:pPr>
              <a:defRPr sz="900">
                <a:solidFill>
                  <a:srgbClr val="374151"/>
                </a:solidFill>
              </a:defRPr>
            </a:pPr>
            <a:r>
              <a:t>Core real-time anchor-free architecture (3.2M params, 5.93MB) achieving 9.8ms inference on Apple Silicon / Jetson Orin for 6 hazard classes and vehicle density counting.</a:t>
            </a:r>
          </a:p>
          <a:p>
            <a:pPr>
              <a:defRPr sz="850" b="1">
                <a:solidFill>
                  <a:srgbClr val="10956C"/>
                </a:solidFill>
              </a:defRPr>
            </a:pPr>
            <a:r>
              <a:t>Links: Documentation | GitHub (Ultralytics YOLOv8 2023)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450592"/>
            <a:ext cx="5486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b="1" sz="1200">
                <a:solidFill>
                  <a:srgbClr val="18181B"/>
                </a:solidFill>
                <a:latin typeface="Arial"/>
              </a:defRPr>
            </a:pPr>
            <a:r>
              <a:t>5. OpenCV — Computer Vision &amp; Edge Privacy</a:t>
            </a:r>
          </a:p>
          <a:p>
            <a:pPr>
              <a:defRPr sz="900">
                <a:solidFill>
                  <a:srgbClr val="374151"/>
                </a:solidFill>
              </a:defRPr>
            </a:pPr>
            <a:r>
              <a:t>Powers on-chip CLAHE contrast normalization, ALPR license plate contour segmentation, and edge Gaussian face/plate anonymization compliant with DPDP Act 2023.</a:t>
            </a:r>
          </a:p>
          <a:p>
            <a:pPr>
              <a:defRPr sz="850" b="1">
                <a:solidFill>
                  <a:srgbClr val="0284C7"/>
                </a:solidFill>
              </a:defRPr>
            </a:pPr>
            <a:r>
              <a:t>Links: Official Website (opencv.org) | Dr. Dobb's Journal (Bradski)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712463"/>
            <a:ext cx="5486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b="1" sz="1200">
                <a:solidFill>
                  <a:srgbClr val="18181B"/>
                </a:solidFill>
                <a:latin typeface="Arial"/>
              </a:defRPr>
            </a:pPr>
            <a:r>
              <a:t>6. PyTorch &amp; Highway Capacity Manual (HCM)</a:t>
            </a:r>
          </a:p>
          <a:p>
            <a:pPr>
              <a:defRPr sz="900">
                <a:solidFill>
                  <a:srgbClr val="374151"/>
                </a:solidFill>
              </a:defRPr>
            </a:pPr>
            <a:r>
              <a:t>PyTorch deep learning inference pipeline combined with Highway Capacity Manual (HCM 6th Ed.) mathematical formulations for Level of Service (LOS A–F) density estimation.</a:t>
            </a:r>
          </a:p>
          <a:p>
            <a:pPr>
              <a:defRPr sz="850" b="1">
                <a:solidFill>
                  <a:srgbClr val="0284C7"/>
                </a:solidFill>
              </a:defRPr>
            </a:pPr>
            <a:r>
              <a:t>Links: Official Website (pytorch.org) | Transportation Research Board HCM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974336"/>
            <a:ext cx="54864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b="1" sz="1200">
                <a:solidFill>
                  <a:srgbClr val="18181B"/>
                </a:solidFill>
                <a:latin typeface="Arial"/>
              </a:defRPr>
            </a:pPr>
            <a:r>
              <a:t>7. Leaflet GIS &amp; OpenStreetMap Protocols</a:t>
            </a:r>
          </a:p>
          <a:p>
            <a:pPr>
              <a:defRPr sz="900">
                <a:solidFill>
                  <a:srgbClr val="374151"/>
                </a:solidFill>
              </a:defRPr>
            </a:pPr>
            <a:r>
              <a:t>Client-side interactive geospatial engine for high-density road defect heatmaps, Route 70H corridor polyline rendering, and 15m/40m spatial radius query lookups.</a:t>
            </a:r>
          </a:p>
          <a:p>
            <a:pPr>
              <a:defRPr sz="850" b="1">
                <a:solidFill>
                  <a:srgbClr val="0284C7"/>
                </a:solidFill>
              </a:defRPr>
            </a:pPr>
            <a:r>
              <a:t>Links: Official Website (leafletjs.com) | OpenStreetMap Community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